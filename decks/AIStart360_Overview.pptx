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6EFFC0">
              <a:alpha val="12000"/>
            </a:srgbClr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60FFD4">
              <a:alpha val="8000"/>
            </a:srgbClr>
          </a:solidFill>
          <a:ln w="12700">
            <a:solidFill>
              <a:srgbClr val="60F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AI-ОПЕРАЦИОНКА ·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Управляй бизнесом по цифрам, а не по ощущениям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диагностики, метрик и плана роста для собственника малого и среднего бизнеса. AI извлекает цифры из ваших отчётов, считает Точку А, показывает 11 целей роста и держит руку на пульсе.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548640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486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122 метрики · 7 GRI · 11 целей · 12 KPI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548640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5486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30 дней — бесплатно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5486400"/>
            <a:ext cx="3200400" cy="777240"/>
          </a:xfrm>
          <a:prstGeom prst="roundRect">
            <a:avLst>
              <a:gd name="adj" fmla="val 14118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5486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Собственники не управляют бизнесом по цифрам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3749040" cy="54864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73%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знают unit-экономику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CAC/LTV считают раз в год, в Excel, на коленке. Маркетинг сжигает прибыль и никто не замечает.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2860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286000"/>
            <a:ext cx="3749040" cy="54864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560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61%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консультанты дают «общие места»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Финдиректор-фрилансер делает аудит, отчёт пылится 6 месяцев. Действий ноль.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86000"/>
            <a:ext cx="3749040" cy="54864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5603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84%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68680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решают «по ощущениям»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0" y="4480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Нет дашборда → нет калибровки → собственник принимает решения интуитивно.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 данные опроса 500 собственников SMB ·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— операционка собственника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Заполняешь анкету + закидываешь отчёты → AI считает «где ты сейчас», показывает «куда двигаться» и предупреждает когда что-то идёт не так. Не очередной консалтинг — постоянно действующая система.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8892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Диагностика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Анкета 12 шагов + AI-парсинг P&amp;L, баланса, CRM-выгрузок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338328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6928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Метрики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122 показателя по 7 отделам, привязанных к источникам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4964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План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0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Точка А → Точка Б. 11 целей роста, 90-дневный маршрут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3383280"/>
            <a:ext cx="2697480" cy="2743200"/>
          </a:xfrm>
          <a:prstGeom prst="roundRect">
            <a:avLst>
              <a:gd name="adj" fmla="val 4068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430000" y="3611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46404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Исполнение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64040" y="4937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Интеграции с CRM/CDP/аналитикой. Алёрты при отклонениях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ДЛЯ КОГО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SMB с выручкой $300K — $10M / год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Собственник 30–45 лет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Растущий бизнес, 20–250 сотрудников, выручка $300K–$10M/год. Хочет масштабироваться, но не уверен с какого рычага начать.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53949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услуги B2B/B2C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5806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806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производство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5806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5806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ритейл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2860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Финансовый директор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54880" y="38404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Хочет автоматизировать отчётность и видеть unit-экономику в реальном времени. Сейчас тратит 30% времени на сбор данных вручную.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53949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CFO в найме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53949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 of Finance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5806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5806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аутсорс-CFO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12480" y="228600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868680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Эксперт / консультант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0" y="38404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Финансовый, операционный, маркетинговый консультант. Использует AIStart360 как платформу для клиентских проектов — экономит 60% времени на аудитах.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0" y="53949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финконсалтинг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378440" y="53949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78440" y="5394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growth advisor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686800" y="5806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58064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operations expert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Точка А — объективный снимок состояния бизнеса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Как формируется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6EF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Анкета 12 шагов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9992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 компании, цели, позиционирование, орг-структура, маркетинг, продажи, финансы, CJM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3401568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6EF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Загрузка документов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P&amp;L, бухбаланс, marketing reports, CRM-выгрузки — до 50МБ за файл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059936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6EF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AI-парсер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15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OpenRouter Sonnet извлекает 30–60 ключевых полей. Точность маппинга 92%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718304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6EF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718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7000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Расчёт 5 блоков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9743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Финансы 30% · Продажи 25% · Операции 20% · Маркетинг 15% · Стратегия 10%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5376672"/>
            <a:ext cx="457200" cy="457200"/>
          </a:xfrm>
          <a:prstGeom prst="ellipse">
            <a:avLst/>
          </a:prstGeom>
          <a:solidFill>
            <a:srgbClr val="0F2920"/>
          </a:solidFill>
          <a:ln w="15875">
            <a:solidFill>
              <a:srgbClr val="6EF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358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 Score 0–100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56327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Общий балл + health-индекс + стадия зрелости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2194560"/>
            <a:ext cx="5760720" cy="4023360"/>
          </a:xfrm>
          <a:prstGeom prst="roundRect">
            <a:avLst>
              <a:gd name="adj" fmla="val 2727"/>
            </a:avLst>
          </a:prstGeom>
          <a:solidFill>
            <a:srgbClr val="0E1620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Что видит собственник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2697480"/>
            <a:ext cx="1463040" cy="1463040"/>
          </a:xfrm>
          <a:prstGeom prst="ellipse">
            <a:avLst/>
          </a:prstGeom>
          <a:solidFill>
            <a:srgbClr val="0B0F14"/>
          </a:solidFill>
          <a:ln w="38100">
            <a:solidFill>
              <a:srgbClr val="6EFF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63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26364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/100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Health Medium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638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Стадия: «Уверенный масштаб»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Сильные: продажи, продукт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8638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Слабые: операции, маркетинг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9560" y="4507992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09560" y="4507992"/>
            <a:ext cx="2435962" cy="128016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24712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4764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Продажи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909560" y="4837176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4837176"/>
            <a:ext cx="2699309" cy="128016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247120" y="47640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72200" y="5093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Операции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5166360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9560" y="5166360"/>
            <a:ext cx="1349654" cy="128016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247120" y="5093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72200" y="5422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Маркетинг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909560" y="5495544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5495544"/>
            <a:ext cx="1711757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247120" y="5422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72200" y="57515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Стратегия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909560" y="5824728"/>
            <a:ext cx="329184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09560" y="5824728"/>
            <a:ext cx="2205533" cy="128016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247120" y="57515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122 метрики с привязкой к источнику данных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Каждая метрика знает откуда брать данные: поле анкеты, выгрузка из 1С/CRM, парсенный документ, GA или внешний API. Не «общее место», а конкретный путь к цифре.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65176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Финансы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Выручка · EBITDA · ROA · Cash Flow · маржа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Маркетинг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 · CPL · NPS · ER · посещения сайта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3796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Продажи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Средний чек · Win Rate · цикл · TTR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89720" y="2834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292840" y="3017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418320" y="3611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Операции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0" y="3913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SLA · SKU · брак · производительность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5176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77240" y="5303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605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Текучка · eNPS · Time-to-Hire · OKR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9000" y="4526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3212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657600" y="5303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0" y="5605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Доля рынка · экспорт · онлайн · SKU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452628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412480" y="4709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537960" y="5303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Клиенты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37960" y="56052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Активные · Churn · NPS · Retention · ARPU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6263640"/>
            <a:ext cx="2743200" cy="292608"/>
          </a:xfrm>
          <a:prstGeom prst="roundRect">
            <a:avLst>
              <a:gd name="adj" fmla="val 25000"/>
            </a:avLst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263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 БИЗ + 12 KPI + 7 GRI + 55 ЦЕЛЕЙ = 122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 Pulse — 7 блоков готовности к росту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аудит, а маршрут. Видно где «бутылочное горлышко» и куда инвестировать рубль, чтобы получить пять.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Бизнес-модель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84378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843784"/>
            <a:ext cx="2909621" cy="128016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092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7.4/10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Готовность основателя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334670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3346704"/>
            <a:ext cx="2634386" cy="128016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2004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6.7/10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Доверие и позиция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384962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3849624"/>
            <a:ext cx="2044598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5.2/10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06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Стабильность кассы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435254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4352544"/>
            <a:ext cx="1965960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4206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709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Продукт и спрос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485546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4855464"/>
            <a:ext cx="1848002" cy="12801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4.7/10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12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37560" y="535838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5358384"/>
            <a:ext cx="1022299" cy="128016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5212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2.6/10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715000"/>
            <a:ext cx="7863840" cy="411480"/>
          </a:xfrm>
          <a:prstGeom prst="roundRect">
            <a:avLst>
              <a:gd name="adj" fmla="val 13333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715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Операции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37560" y="5861304"/>
            <a:ext cx="3931920" cy="128016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5861304"/>
            <a:ext cx="825703" cy="128016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5715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2.1/10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95360" y="269748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 ИТОГ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778240" y="3108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4.7</a:t>
            </a:r>
            <a:endParaRPr lang="en-US" sz="5600" dirty="0"/>
          </a:p>
        </p:txBody>
      </p:sp>
      <p:sp>
        <p:nvSpPr>
          <p:cNvPr id="44" name="Text 42"/>
          <p:cNvSpPr/>
          <p:nvPr/>
        </p:nvSpPr>
        <p:spPr>
          <a:xfrm>
            <a:off x="1078992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10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7824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Главный тормоз — Операции и Команда. Без них любые $$ в рекламу = слив.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595360" y="5074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0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ДЕЙСТВИЯ ПЕРВОЙ ВОЛНЫ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78240" y="5440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Регламенты процессов · KPI команды · BI-отчётность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МОДУЛЬ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Точка Б — целевое состояние + 90 дней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целей роста (Привлечение, Удержание, Чек, Частота, Сарафан, Конкуренты, Спрос, Скорость, CAC, Конверсия, Win Rate). Под каждую — формулы, бенчмарки, маршрут.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LTV/CAC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≥3x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2.2x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3904488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904488"/>
            <a:ext cx="1301648" cy="73152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7180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7180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38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3904488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3904488"/>
            <a:ext cx="1355141" cy="73152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Retention 30d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60%+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42%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3904488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3904488"/>
            <a:ext cx="1248156" cy="73152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Чек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5236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₸210К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5236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₸180К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52360" y="3904488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3904488"/>
            <a:ext cx="1533449" cy="73152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09760" y="2788920"/>
            <a:ext cx="2103120" cy="1325880"/>
          </a:xfrm>
          <a:prstGeom prst="roundRect">
            <a:avLst>
              <a:gd name="adj" fmla="val 8276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2926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0" y="3200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&gt;50%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692640" y="3657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сейчас: 48%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692640" y="3904488"/>
            <a:ext cx="1783080" cy="73152"/>
          </a:xfrm>
          <a:prstGeom prst="rect">
            <a:avLst/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3904488"/>
            <a:ext cx="1711757" cy="73152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90-дневный план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6634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663440"/>
            <a:ext cx="3657600" cy="73152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C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Дни 1–30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5120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Стабилизация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22960" y="5696712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1560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Регламенты опер.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2960" y="5952744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1560" y="5879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KPI команды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2960" y="6208776"/>
            <a:ext cx="109728" cy="109728"/>
          </a:xfrm>
          <a:prstGeom prst="ellipse">
            <a:avLst/>
          </a:prstGeom>
          <a:solidFill>
            <a:srgbClr val="FF5C7A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1560" y="6135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Парсинг 3 кв. отчётов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89120" y="46634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89120" y="4663440"/>
            <a:ext cx="3657600" cy="731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45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Дни 31–60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17720" y="5120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Атрибуция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663440" y="569671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UTM-разметка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5952744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5879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 по каналу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63440" y="6208776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6135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NPS-замер запущен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229600" y="466344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9600" y="4663440"/>
            <a:ext cx="3657600" cy="73152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58200" y="4846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Дни 61–90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458200" y="5120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Рычаги роста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503920" y="5696712"/>
            <a:ext cx="109728" cy="109728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32520" y="5623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Программа повторки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503920" y="5952744"/>
            <a:ext cx="109728" cy="109728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32520" y="5879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Апсейл-сценарии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503920" y="6208776"/>
            <a:ext cx="109728" cy="109728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732520" y="6135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Реферальная программа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12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AI-ПАРСЕР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Документы → данные за 8 секунд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Закидываете файл → AI извлекает 30–60 ключевых полей и мапит в нужные разделы дашборда. Не нужно перепечатывать вручную.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Файл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 · DOCX · XLSX · CSV · TXT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 50 МБ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926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AI-парсер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OpenRouter Sonnet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schema-валидация zod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эвристический fallback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0" y="2743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9260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82396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Поля → отделы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2396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Выручка → Финансы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 → Маркетинг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SKU → Операции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1381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Поддерживаемые типы документов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P&amp;L отчёт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6596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Бухбаланс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report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Ops report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CRM-export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Аудит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Прайс-листы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69880" y="51206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69880" y="5120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Другое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760720"/>
            <a:ext cx="11155680" cy="640080"/>
          </a:xfrm>
          <a:prstGeom prst="roundRect">
            <a:avLst>
              <a:gd name="adj" fmla="val 17143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Замер на P&amp;L 3 страницы: 47 полей извлечено за 8 секунд, точность маппинга 92%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СТЕК + ИНТЕГРАЦИИ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 заменяем — подключаемся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CRM / Продажи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Bitrix24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AmoCRM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Сделки, чек, цикл закрытия, конверсия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Yandex.Metrica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 Graph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332720" y="28803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0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TikTok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337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Атрибуция «канал → выручка», CPL, 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Коммуникации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Telegram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Resend email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5394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Алёрты, weekly digest, NPS-опросы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434340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Стек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14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Supabase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5256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5256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Prisma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332720" y="493776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1F262E"/>
          </a:solidFill>
          <a:ln w="12700">
            <a:solidFill>
              <a:srgbClr val="1F26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332720" y="4937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OpenRouter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5394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Vercel deploy, pgvector, NextAuth, Inngest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Open-core архитектура: данные клиента — на его инфраструктуре (Supabase self-host опционально)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ТАРИФЫ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бесплатно · Pro $300–800/мес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· 30 ДНЕЙ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Бесплатно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Полный доступ к платформе. Анкета + парсинг 2 кварталов отчётов. Точка А, GRI, 11 целей.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4617720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122 метрики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937760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AI-парсер до 20 документов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5257800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Telegram + email алёрты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5577840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пользователь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 · ПОДПИСКА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$300–800 / мес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446520" y="3611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Цена зависит от объёма документов и числа пользователей. Окупаемость ~6 недель за счёт снижения CAC на 5%.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4617720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Всё из Pilot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4910328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Безлимит парсинга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5202936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51114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Интеграции CRM / GA / 1С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5495544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5404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Эксперт-сопровождение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5788152"/>
            <a:ext cx="118872" cy="118872"/>
          </a:xfrm>
          <a:prstGeom prst="ellipse">
            <a:avLst/>
          </a:prstGeom>
          <a:solidFill>
            <a:srgbClr val="6EFFC0"/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5696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До 10 пользователей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355080"/>
            <a:ext cx="11155680" cy="365760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Эффект через 90 дней: +15% средний чек · −20% CAC · +30% retention 30d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 · overview ·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55680" y="6492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698480" y="41148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0" y="411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aistart360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6EFFC0">
              <a:alpha val="8000"/>
            </a:srgbClr>
          </a:solidFill>
          <a:ln w="12700">
            <a:solidFill>
              <a:srgbClr val="6EFF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СЛЕДУЮЩИЕ ШАГИ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шага — и через 90 дней управляешь по цифрам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3154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Демо 30 минут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Покажем платформу. Ответим на технические вопросы.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778240" y="329184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0" y="3291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 этой неделе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976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83080" y="4251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30 дней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4617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Заполняешь анкету, грузишь отчёты. Получаешь Точку А, GRI и план. Бесплатно.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4389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4389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Старт через 5 рабочих дней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972800" cy="960120"/>
          </a:xfrm>
          <a:prstGeom prst="roundRect">
            <a:avLst>
              <a:gd name="adj" fmla="val 11429"/>
            </a:avLst>
          </a:prstGeom>
          <a:solidFill>
            <a:srgbClr val="151B22"/>
          </a:solidFill>
          <a:ln w="9525">
            <a:solidFill>
              <a:srgbClr val="2A32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9496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5349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Внедрение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83080" y="5715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Интеграция с CRM/аналитикой, обучение команды, монитор каждый месяц.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0" y="54864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920"/>
          </a:solidFill>
          <a:ln w="12700">
            <a:solidFill>
              <a:srgbClr val="0F29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5486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После пилота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6400800"/>
            <a:ext cx="10972800" cy="320040"/>
          </a:xfrm>
          <a:prstGeom prst="roundRect">
            <a:avLst>
              <a:gd name="adj" fmla="val 14286"/>
            </a:avLst>
          </a:prstGeom>
          <a:solidFill>
            <a:srgbClr val="0F2920"/>
          </a:solidFill>
          <a:ln w="9525">
            <a:solidFill>
              <a:srgbClr val="6EFF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FF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hello@aistart360.app  ·  aistart360.vercel.app  ·  Almaty / Tashkent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AIStart360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AIStart360 · AI-операционка для собственника</dc:title>
  <dc:subject>AIStart360 — overview</dc:subject>
  <dc:creator>AIStart360</dc:creator>
  <cp:lastModifiedBy>AIStart360</cp:lastModifiedBy>
  <cp:revision>1</cp:revision>
  <dcterms:created xsi:type="dcterms:W3CDTF">2026-05-31T07:38:38Z</dcterms:created>
  <dcterms:modified xsi:type="dcterms:W3CDTF">2026-05-31T07:38:38Z</dcterms:modified>
</cp:coreProperties>
</file>